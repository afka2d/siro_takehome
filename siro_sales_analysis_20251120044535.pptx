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958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8958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933602"/>
            <a:ext cx="3590849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28854"/>
            <a:ext cx="3848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Bob's Builders Sales Performance Analysis (Aug 6 - Sep 28, 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429207"/>
            <a:ext cx="209580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543507" y="1790395"/>
            <a:ext cx="142646" cy="91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11780" y="1429207"/>
            <a:ext cx="209580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52060" y="1429207"/>
            <a:ext cx="209580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92340" y="1429207"/>
            <a:ext cx="209580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32620" y="1429207"/>
            <a:ext cx="2095805" cy="1324051"/>
          </a:xfrm>
          <a:prstGeom prst="roundRect">
            <a:avLst>
              <a:gd name="adj" fmla="val 59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361542" y="1933956"/>
            <a:ext cx="7434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764585" y="1933956"/>
            <a:ext cx="419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0080346" y="1933956"/>
            <a:ext cx="12289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54.9m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4692" y="2409444"/>
            <a:ext cx="1405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Conversations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3736238" y="1790395"/>
            <a:ext cx="237744" cy="91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151022" y="2409444"/>
            <a:ext cx="1510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Representatives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1016667" r="-1016667" t="0" b="0"/>
          <a:stretch/>
        </p:blipFill>
        <p:spPr>
          <a:xfrm>
            <a:off x="5986577" y="1790395"/>
            <a:ext cx="219456" cy="91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14416" y="1933956"/>
            <a:ext cx="1200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40.0%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009230" y="1933956"/>
            <a:ext cx="8860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3.34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5570525" y="2409444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Win Rate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1016667" r="-1016667" t="0" b="0"/>
          <a:stretch/>
        </p:blipFill>
        <p:spPr>
          <a:xfrm>
            <a:off x="8226857" y="1790395"/>
            <a:ext cx="219456" cy="91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31252" y="2409444"/>
            <a:ext cx="1310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Skill Score (/5)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989999" r="-989999" t="0" b="0"/>
          <a:stretch/>
        </p:blipFill>
        <p:spPr>
          <a:xfrm>
            <a:off x="10480853" y="1790395"/>
            <a:ext cx="190195" cy="91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28225" y="2409444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Call Duration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71500" y="2980944"/>
            <a:ext cx="11048695" cy="1067105"/>
          </a:xfrm>
          <a:prstGeom prst="roundRect">
            <a:avLst>
              <a:gd name="adj" fmla="val 6121"/>
            </a:avLst>
          </a:prstGeom>
          <a:solidFill>
            <a:srgbClr val="EFF6FF"/>
          </a:solidFill>
          <a:ln/>
        </p:spPr>
      </p:sp>
      <p:sp>
        <p:nvSpPr>
          <p:cNvPr id="28" name="Shape 21"/>
          <p:cNvSpPr/>
          <p:nvPr/>
        </p:nvSpPr>
        <p:spPr>
          <a:xfrm>
            <a:off x="571500" y="2980944"/>
            <a:ext cx="57607" cy="106710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7707" y="3204972"/>
            <a:ext cx="190195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00607" y="3161995"/>
            <a:ext cx="4205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Finding: Significant Performance Decline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10067544" y="3133649"/>
            <a:ext cx="1324051" cy="219456"/>
          </a:xfrm>
          <a:prstGeom prst="roundRect">
            <a:avLst>
              <a:gd name="adj" fmla="val 724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1613" r="-1613" t="0" b="0"/>
          <a:stretch/>
        </p:blipFill>
        <p:spPr>
          <a:xfrm>
            <a:off x="10134295" y="3188513"/>
            <a:ext cx="105156" cy="1051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277856" y="3161995"/>
            <a:ext cx="11265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analysis.py#L94-L111</a:t>
            </a:r>
            <a:endParaRPr lang="en-US" sz="800" dirty="0"/>
          </a:p>
        </p:txBody>
      </p:sp>
      <p:sp>
        <p:nvSpPr>
          <p:cNvPr id="34" name="Text 25"/>
          <p:cNvSpPr txBox="1"/>
          <p:nvPr/>
        </p:nvSpPr>
        <p:spPr>
          <a:xfrm>
            <a:off x="1200607" y="3457346"/>
            <a:ext cx="9878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rate dropped from 64.29% in the first week to 39.64% in the final week. Concurrently, average skill scores declined by 15% (4.10 to 3.50), indicating a shift in sales behavior away from proven techniques.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571500" y="4276649"/>
            <a:ext cx="53721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248095" y="4276649"/>
            <a:ext cx="5372100" cy="2857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10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2103120" y="4496105"/>
            <a:ext cx="2429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 Distribution (n=150)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7685532" y="4496105"/>
            <a:ext cx="2619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 Trend (Aug 6 - Sep 28)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" b="-3"/>
          <a:stretch/>
        </p:blipFill>
        <p:spPr>
          <a:xfrm>
            <a:off x="771754" y="4819802"/>
            <a:ext cx="4972507" cy="2095805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3" b="-3"/>
          <a:stretch/>
        </p:blipFill>
        <p:spPr>
          <a:xfrm>
            <a:off x="6448349" y="4819802"/>
            <a:ext cx="4972507" cy="2095805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571500" y="7134149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31"/>
          <p:cNvSpPr/>
          <p:nvPr/>
        </p:nvSpPr>
        <p:spPr>
          <a:xfrm>
            <a:off x="571500" y="7295998"/>
            <a:ext cx="2009851" cy="219456"/>
          </a:xfrm>
          <a:prstGeom prst="roundRect">
            <a:avLst>
              <a:gd name="adj" fmla="val 724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-1613" r="-1613" t="0" b="0"/>
          <a:stretch/>
        </p:blipFill>
        <p:spPr>
          <a:xfrm>
            <a:off x="638251" y="7350862"/>
            <a:ext cx="105156" cy="105156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2728570" y="7295998"/>
            <a:ext cx="2324405" cy="219456"/>
          </a:xfrm>
          <a:prstGeom prst="roundRect">
            <a:avLst>
              <a:gd name="adj" fmla="val 724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780898" y="7324344"/>
            <a:ext cx="18123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Source: analysis.py#L33-L111</a:t>
            </a:r>
            <a:endParaRPr lang="en-US" sz="8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-1613" r="-1613" t="0" b="0"/>
          <a:stretch/>
        </p:blipFill>
        <p:spPr>
          <a:xfrm>
            <a:off x="2795321" y="7350862"/>
            <a:ext cx="105156" cy="105156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2938882" y="7324344"/>
            <a:ext cx="21268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Temporal Analysis: analysis.py#L94-L111</a:t>
            </a:r>
            <a:endParaRPr lang="en-US" sz="800" dirty="0"/>
          </a:p>
        </p:txBody>
      </p:sp>
      <p:sp>
        <p:nvSpPr>
          <p:cNvPr id="48" name="Text 35"/>
          <p:cNvSpPr txBox="1"/>
          <p:nvPr/>
        </p:nvSpPr>
        <p:spPr>
          <a:xfrm>
            <a:off x="11030407" y="7327087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of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9119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191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933602"/>
            <a:ext cx="70107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28854"/>
            <a:ext cx="72676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Scores Strongly Predict Outcomes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5843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Consistently Higher Performance Across All 7 Skills in Won Deals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533449"/>
            <a:ext cx="7248449" cy="45720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439619" y="1752905"/>
            <a:ext cx="3629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Skill Score Comparison: Won vs Lost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75" r="-75" t="0" b="0"/>
          <a:stretch/>
        </p:blipFill>
        <p:spPr>
          <a:xfrm>
            <a:off x="771754" y="2104949"/>
            <a:ext cx="6848856" cy="38002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97596" y="1533449"/>
            <a:ext cx="3429000" cy="3200400"/>
          </a:xfrm>
          <a:prstGeom prst="roundRect">
            <a:avLst>
              <a:gd name="adj" fmla="val 680"/>
            </a:avLst>
          </a:prstGeom>
          <a:solidFill>
            <a:srgbClr val="EFF6FF"/>
          </a:solidFill>
          <a:ln/>
        </p:spPr>
      </p:sp>
      <p:sp>
        <p:nvSpPr>
          <p:cNvPr id="11" name="Shape 8"/>
          <p:cNvSpPr/>
          <p:nvPr/>
        </p:nvSpPr>
        <p:spPr>
          <a:xfrm>
            <a:off x="8197596" y="1533449"/>
            <a:ext cx="47549" cy="32004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36254" y="1762049"/>
            <a:ext cx="152705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97596" y="4924044"/>
            <a:ext cx="3429000" cy="2286000"/>
          </a:xfrm>
          <a:prstGeom prst="roundRect">
            <a:avLst>
              <a:gd name="adj" fmla="val 1333"/>
            </a:avLst>
          </a:prstGeom>
          <a:solidFill>
            <a:srgbClr val="ECFD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197596" y="4924044"/>
            <a:ext cx="47549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64854" y="1723644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Predictive Skills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64854" y="5115154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Correlation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436254" y="2048256"/>
            <a:ext cx="30202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and Demonstration skills show the largest gap between success and failure, indicating these are decisive factors.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36254" y="5438851"/>
            <a:ext cx="27057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evaluated skill shows a higher average score for won deals, validating the grading rubric's effectiveness in identifying success drivers.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436254" y="3019349"/>
            <a:ext cx="3000146" cy="1524305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59698" y="3563417"/>
            <a:ext cx="275234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7"/>
          <p:cNvSpPr/>
          <p:nvPr/>
        </p:nvSpPr>
        <p:spPr>
          <a:xfrm>
            <a:off x="8559698" y="3991356"/>
            <a:ext cx="275234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559698" y="3258007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Gap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559698" y="3685946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Demonstration Gap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559698" y="4114800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"Why" Gap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0845698" y="3258007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+46%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851185" y="3685946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+39%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0855757" y="4114800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+28%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6254" y="5152644"/>
            <a:ext cx="152705" cy="1527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36254" y="6648602"/>
            <a:ext cx="30723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"Value Proposition", with the smallest gap (+3%), still favors successful outcomes.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71500" y="7210044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71500" y="7372807"/>
            <a:ext cx="2753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Siro DS Takehome Analysis • 2025-11-20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007547" y="7372807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of 6</a:t>
            </a:r>
            <a:endParaRPr lang="en-US" sz="9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1613" r="-1613" t="0" b="0"/>
          <a:stretch/>
        </p:blipFill>
        <p:spPr>
          <a:xfrm>
            <a:off x="571500" y="7653528"/>
            <a:ext cx="114300" cy="1143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61695" y="7634326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Reference: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743761" y="7610551"/>
            <a:ext cx="1343254" cy="200254"/>
          </a:xfrm>
          <a:prstGeom prst="roundRect">
            <a:avLst>
              <a:gd name="adj" fmla="val 869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010558" y="7610551"/>
            <a:ext cx="1343254" cy="200254"/>
          </a:xfrm>
          <a:prstGeom prst="roundRect">
            <a:avLst>
              <a:gd name="adj" fmla="val 869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809598" y="7648956"/>
            <a:ext cx="1286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analysis.py#L120-L133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4077310" y="7648956"/>
            <a:ext cx="1286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analysis.py#L280-L295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3153766" y="7625182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(Calculation) •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5420563" y="7625182"/>
            <a:ext cx="857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(Visualization)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53351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1533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933602"/>
            <a:ext cx="7086600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28854"/>
            <a:ext cx="7344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"Discover the Why" is the Weakest Skill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68442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Foundational Gap: High Variability and Missed Opportunities for Connection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533449"/>
            <a:ext cx="6105449" cy="4381805"/>
          </a:xfrm>
          <a:prstGeom prst="roundRect">
            <a:avLst>
              <a:gd name="adj" fmla="val 7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42516" y="1742846"/>
            <a:ext cx="36630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Skill Scores Across All Categories (1-5 Scale)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6851" y="4510735"/>
            <a:ext cx="2095805" cy="923544"/>
          </a:xfrm>
          <a:prstGeom prst="roundRect">
            <a:avLst>
              <a:gd name="adj" fmla="val 4083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6851" y="4510735"/>
            <a:ext cx="38405" cy="92354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771754" y="2029054"/>
            <a:ext cx="5705856" cy="368594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19556" y="46350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Critical Finding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19556" y="4835347"/>
            <a:ext cx="18955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average score (2.63) with high Standard Deviation (1.21), indicating inconsistent execution.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57339" y="1533449"/>
            <a:ext cx="2238451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86316" y="1533449"/>
            <a:ext cx="2238451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57339" y="2385670"/>
            <a:ext cx="2238451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386316" y="2385670"/>
            <a:ext cx="2238451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09306" y="1666951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SCORE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9849002" y="1666951"/>
            <a:ext cx="13935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SCORE (1/5) FREQ.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7740396" y="2519172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WON DEAL AVG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062972" y="2519172"/>
            <a:ext cx="9646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DEAL AVG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817206" y="1880921"/>
            <a:ext cx="5961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2.63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925812" y="1880921"/>
            <a:ext cx="7763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23.2%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90865" y="1966874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5.0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577779" y="1966874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(33 calls)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953451" y="2734056"/>
            <a:ext cx="6053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3.02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283342" y="2734056"/>
            <a:ext cx="6053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2.36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057339" y="3333902"/>
            <a:ext cx="4572000" cy="1809598"/>
          </a:xfrm>
          <a:prstGeom prst="roundRect">
            <a:avLst>
              <a:gd name="adj" fmla="val 2128"/>
            </a:avLst>
          </a:prstGeom>
          <a:solidFill>
            <a:srgbClr val="FEF2F2"/>
          </a:solidFill>
          <a:ln/>
        </p:spPr>
      </p:sp>
      <p:sp>
        <p:nvSpPr>
          <p:cNvPr id="29" name="Shape 26"/>
          <p:cNvSpPr/>
          <p:nvPr/>
        </p:nvSpPr>
        <p:spPr>
          <a:xfrm>
            <a:off x="7057339" y="3333902"/>
            <a:ext cx="47549" cy="180959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-769" r="-769" t="0" b="0"/>
          <a:stretch/>
        </p:blipFill>
        <p:spPr>
          <a:xfrm>
            <a:off x="7295083" y="3522269"/>
            <a:ext cx="181051" cy="14264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552030" y="3486607"/>
            <a:ext cx="16029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Identified Gaps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7466990" y="3786530"/>
            <a:ext cx="35030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Probing: Reps miss direct questions about customer motivation (e.g., "What is driving your decision today?").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7466990" y="4189781"/>
            <a:ext cx="372252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Summaries: Frequent failure to recap customer needs before pitching solutions.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7466990" y="4593946"/>
            <a:ext cx="33988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Premature Incentives: Discussing price/discounts before understanding the core "why" behind the purchase.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057339" y="5293462"/>
            <a:ext cx="4572000" cy="1152144"/>
          </a:xfrm>
          <a:prstGeom prst="roundRect">
            <a:avLst>
              <a:gd name="adj" fmla="val 5247"/>
            </a:avLst>
          </a:prstGeom>
          <a:solidFill>
            <a:srgbClr val="EFF6FF"/>
          </a:solidFill>
          <a:ln/>
        </p:spPr>
      </p:sp>
      <p:sp>
        <p:nvSpPr>
          <p:cNvPr id="36" name="Shape 32"/>
          <p:cNvSpPr/>
          <p:nvPr/>
        </p:nvSpPr>
        <p:spPr>
          <a:xfrm>
            <a:off x="7057339" y="5293462"/>
            <a:ext cx="47549" cy="115214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69" b="-869"/>
          <a:stretch/>
        </p:blipFill>
        <p:spPr>
          <a:xfrm>
            <a:off x="7295083" y="5480914"/>
            <a:ext cx="105156" cy="14264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476134" y="5445252"/>
            <a:ext cx="2307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Interventions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7295083" y="5746090"/>
            <a:ext cx="3805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discovery phase to uncover emotional drivers: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295083" y="6040526"/>
            <a:ext cx="1419149" cy="256946"/>
          </a:xfrm>
          <a:prstGeom prst="roundRect">
            <a:avLst>
              <a:gd name="adj" fmla="val 52722"/>
            </a:avLst>
          </a:prstGeom>
          <a:solidFill>
            <a:srgbClr val="DBEAF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789213" y="6040526"/>
            <a:ext cx="1257300" cy="256946"/>
          </a:xfrm>
          <a:prstGeom prst="roundRect">
            <a:avLst>
              <a:gd name="adj" fmla="val 52722"/>
            </a:avLst>
          </a:prstGeom>
          <a:solidFill>
            <a:srgbClr val="DBEAF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0118750" y="6040526"/>
            <a:ext cx="1209751" cy="256946"/>
          </a:xfrm>
          <a:prstGeom prst="roundRect">
            <a:avLst>
              <a:gd name="adj" fmla="val 52722"/>
            </a:avLst>
          </a:prstGeom>
          <a:solidFill>
            <a:srgbClr val="DBEAF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381037" y="6098134"/>
            <a:ext cx="1326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Needs Recap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8875166" y="6098134"/>
            <a:ext cx="11649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"Why Now" Scripting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10204704" y="6098134"/>
            <a:ext cx="11173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 Checklist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571500" y="6445606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571500" y="6617513"/>
            <a:ext cx="18416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Siro DS Takehome Analysis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2485339" y="6617513"/>
            <a:ext cx="3739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</a:t>
            </a:r>
            <a:endParaRPr lang="en-US" sz="800" dirty="0"/>
          </a:p>
        </p:txBody>
      </p:sp>
      <p:sp>
        <p:nvSpPr>
          <p:cNvPr id="49" name="Text 44"/>
          <p:cNvSpPr txBox="1"/>
          <p:nvPr/>
        </p:nvSpPr>
        <p:spPr>
          <a:xfrm>
            <a:off x="3897173" y="6617513"/>
            <a:ext cx="4407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(Stats),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5566867" y="6617513"/>
            <a:ext cx="3739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(LLM)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2779776" y="6751015"/>
            <a:ext cx="1123798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2" name="Shape 47"/>
          <p:cNvSpPr/>
          <p:nvPr/>
        </p:nvSpPr>
        <p:spPr>
          <a:xfrm>
            <a:off x="4252874" y="6751015"/>
            <a:ext cx="1314907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2779776" y="6617513"/>
            <a:ext cx="12033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analysis.py#L134-L167</a:t>
            </a:r>
            <a:endParaRPr lang="en-US" sz="800" dirty="0"/>
          </a:p>
        </p:txBody>
      </p:sp>
      <p:sp>
        <p:nvSpPr>
          <p:cNvPr id="54" name="Text 49"/>
          <p:cNvSpPr txBox="1"/>
          <p:nvPr/>
        </p:nvSpPr>
        <p:spPr>
          <a:xfrm>
            <a:off x="4252874" y="6617513"/>
            <a:ext cx="13935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llm_analysis.py#L108-L149</a:t>
            </a:r>
            <a:endParaRPr lang="en-US" sz="800" dirty="0"/>
          </a:p>
        </p:txBody>
      </p:sp>
      <p:sp>
        <p:nvSpPr>
          <p:cNvPr id="55" name="Text 50"/>
          <p:cNvSpPr txBox="1"/>
          <p:nvPr/>
        </p:nvSpPr>
        <p:spPr>
          <a:xfrm>
            <a:off x="11057839" y="6617513"/>
            <a:ext cx="6501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of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0539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05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933602"/>
            <a:ext cx="9934956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28854"/>
            <a:ext cx="10191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Strategy Differs Between Won and Lost Deals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64821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 Reps Ask More Questions and Control the Conversation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533449"/>
            <a:ext cx="6562649" cy="45720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64638" y="1752905"/>
            <a:ext cx="3096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Volume &amp; Ratio by Outcome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1754" y="5381244"/>
            <a:ext cx="6163056" cy="523951"/>
          </a:xfrm>
          <a:prstGeom prst="roundRect">
            <a:avLst>
              <a:gd name="adj" fmla="val 19039"/>
            </a:avLst>
          </a:prstGeom>
          <a:solidFill>
            <a:srgbClr val="F9FA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83" r="-83" t="0" b="0"/>
          <a:stretch/>
        </p:blipFill>
        <p:spPr>
          <a:xfrm>
            <a:off x="771754" y="2104949"/>
            <a:ext cx="6163056" cy="31811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7026" y="5467198"/>
            <a:ext cx="60085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Observation: In won deals, reps ask 3.5 more questions while customers ask 5.2 fewer questions compared to lost deals.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513625" y="1533449"/>
            <a:ext cx="4114800" cy="2419502"/>
          </a:xfrm>
          <a:prstGeom prst="roundRect">
            <a:avLst>
              <a:gd name="adj" fmla="val 119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13625" y="1533449"/>
            <a:ext cx="47549" cy="24195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7751369" y="1766621"/>
            <a:ext cx="2194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65922" y="1723644"/>
            <a:ext cx="18150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"Golden Ratio"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751369" y="2095805"/>
            <a:ext cx="3791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deals maintain a 2:1 ratio of rep-to-customer questions, indicating proactive discovery and leadership.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751369" y="2905049"/>
            <a:ext cx="1772107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62465" y="2905049"/>
            <a:ext cx="1772107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60943" y="3086100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107070" y="3448202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WON DEAL RATIO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010851" y="3448202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DEAL RATIO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403129" y="3086100"/>
            <a:ext cx="457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1.5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513625" y="4143146"/>
            <a:ext cx="4114800" cy="2590495"/>
          </a:xfrm>
          <a:prstGeom prst="roundRect">
            <a:avLst>
              <a:gd name="adj" fmla="val 103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513625" y="4143146"/>
            <a:ext cx="47549" cy="259049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7751369" y="4376318"/>
            <a:ext cx="133502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979969" y="4334256"/>
            <a:ext cx="21003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Implications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751369" y="5220310"/>
            <a:ext cx="3685946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7751369" y="5763463"/>
            <a:ext cx="3685946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751369" y="4781398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Discovery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751369" y="5324551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Confusion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751369" y="4990795"/>
            <a:ext cx="1133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rep questions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751369" y="5533949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customer questions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0847527" y="4858207"/>
            <a:ext cx="705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+3.5 Qs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10880446" y="5400446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-5.2 Qs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751369" y="5886907"/>
            <a:ext cx="368594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751369" y="5982005"/>
            <a:ext cx="37773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customer question volume in lost deals suggests unresolved doubts, lack of clarity, or the rep losing control of the agenda.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71500" y="6734556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571500" y="6943954"/>
            <a:ext cx="2305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Siro DS Takehome Analysis • 2025-11-20</a:t>
            </a:r>
            <a:endParaRPr lang="en-US" sz="800" dirty="0"/>
          </a:p>
        </p:txBody>
      </p:sp>
      <p:sp>
        <p:nvSpPr>
          <p:cNvPr id="39" name="Text 34"/>
          <p:cNvSpPr txBox="1"/>
          <p:nvPr/>
        </p:nvSpPr>
        <p:spPr>
          <a:xfrm>
            <a:off x="3014777" y="6933895"/>
            <a:ext cx="352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2887675" y="6943954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3377794" y="6886346"/>
            <a:ext cx="1380744" cy="237744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845406" y="6886346"/>
            <a:ext cx="1380744" cy="237744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3463747" y="6953098"/>
            <a:ext cx="1286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analysis.py#L168-L206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4931359" y="6953098"/>
            <a:ext cx="1286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analysis.py#L300-L315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11106302" y="6943954"/>
            <a:ext cx="600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of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8644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864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933602"/>
            <a:ext cx="83823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28854"/>
            <a:ext cx="86392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Performance Variation Across Reps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67105"/>
            <a:ext cx="65580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Rates Vary Dramatically (2.4x Difference) Despite Similar Skill Scores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533449"/>
            <a:ext cx="6562649" cy="45720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34717" y="1752905"/>
            <a:ext cx="2753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 by Sales Representative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84" r="-84" t="0" b="0"/>
          <a:stretch/>
        </p:blipFill>
        <p:spPr>
          <a:xfrm>
            <a:off x="771754" y="2104949"/>
            <a:ext cx="6163056" cy="38002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13625" y="1533449"/>
            <a:ext cx="4114800" cy="11430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</p:sp>
      <p:sp>
        <p:nvSpPr>
          <p:cNvPr id="11" name="Shape 8"/>
          <p:cNvSpPr/>
          <p:nvPr/>
        </p:nvSpPr>
        <p:spPr>
          <a:xfrm>
            <a:off x="7513625" y="1533449"/>
            <a:ext cx="47549" cy="11430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03820" y="1714500"/>
            <a:ext cx="152705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513625" y="2866644"/>
            <a:ext cx="4114800" cy="274320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13625" y="5796382"/>
            <a:ext cx="4114800" cy="952805"/>
          </a:xfrm>
          <a:prstGeom prst="roundRect">
            <a:avLst>
              <a:gd name="adj" fmla="val 7678"/>
            </a:avLst>
          </a:prstGeom>
          <a:solidFill>
            <a:srgbClr val="ECFD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513625" y="5796382"/>
            <a:ext cx="47549" cy="9528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7522769" y="2876702"/>
            <a:ext cx="4095598" cy="40050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522769" y="3268066"/>
            <a:ext cx="409559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932420" y="1676095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Gap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03820" y="1971446"/>
            <a:ext cx="38340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a 2.4x difference between the highest (51.2%) and lowest (21.7%) win rates.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703820" y="2381098"/>
            <a:ext cx="2553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 handles 29% of all recordings.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665415" y="2980944"/>
            <a:ext cx="26243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Representative Performance Metrics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522769" y="3276295"/>
            <a:ext cx="1218895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Shape 19"/>
          <p:cNvSpPr/>
          <p:nvPr/>
        </p:nvSpPr>
        <p:spPr>
          <a:xfrm>
            <a:off x="8733434" y="3276295"/>
            <a:ext cx="1104595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Shape 20"/>
          <p:cNvSpPr/>
          <p:nvPr/>
        </p:nvSpPr>
        <p:spPr>
          <a:xfrm>
            <a:off x="9830714" y="3276295"/>
            <a:ext cx="886054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1"/>
          <p:cNvSpPr/>
          <p:nvPr/>
        </p:nvSpPr>
        <p:spPr>
          <a:xfrm>
            <a:off x="10712196" y="3276295"/>
            <a:ext cx="905256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637069" y="3400654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ID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8847734" y="3400654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RECORDINGS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9945014" y="3400654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0826496" y="3400654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SKILL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522769" y="3676802"/>
            <a:ext cx="4095598" cy="38130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1" name="Shape 27"/>
          <p:cNvSpPr/>
          <p:nvPr/>
        </p:nvSpPr>
        <p:spPr>
          <a:xfrm>
            <a:off x="7522769" y="4048963"/>
            <a:ext cx="12188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-1358" r="-1358" t="0" b="0"/>
          <a:stretch/>
        </p:blipFill>
        <p:spPr>
          <a:xfrm>
            <a:off x="7637069" y="3796589"/>
            <a:ext cx="142646" cy="1234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932420" y="5939028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703820" y="6234379"/>
            <a:ext cx="36914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peer coaching program where top performers mentor those with lower conversion rates.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733434" y="4048963"/>
            <a:ext cx="11045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1"/>
          <p:cNvSpPr/>
          <p:nvPr/>
        </p:nvSpPr>
        <p:spPr>
          <a:xfrm>
            <a:off x="10712196" y="4048963"/>
            <a:ext cx="9052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2"/>
          <p:cNvSpPr/>
          <p:nvPr/>
        </p:nvSpPr>
        <p:spPr>
          <a:xfrm>
            <a:off x="7522769" y="4439412"/>
            <a:ext cx="12188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3"/>
          <p:cNvSpPr/>
          <p:nvPr/>
        </p:nvSpPr>
        <p:spPr>
          <a:xfrm>
            <a:off x="8733434" y="4439412"/>
            <a:ext cx="11045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4"/>
          <p:cNvSpPr/>
          <p:nvPr/>
        </p:nvSpPr>
        <p:spPr>
          <a:xfrm>
            <a:off x="10712196" y="4439412"/>
            <a:ext cx="9052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Shape 35"/>
          <p:cNvSpPr/>
          <p:nvPr/>
        </p:nvSpPr>
        <p:spPr>
          <a:xfrm>
            <a:off x="7522769" y="4824374"/>
            <a:ext cx="12188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6"/>
          <p:cNvSpPr/>
          <p:nvPr/>
        </p:nvSpPr>
        <p:spPr>
          <a:xfrm>
            <a:off x="8733434" y="4824374"/>
            <a:ext cx="11045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37"/>
          <p:cNvSpPr/>
          <p:nvPr/>
        </p:nvSpPr>
        <p:spPr>
          <a:xfrm>
            <a:off x="10712196" y="4824374"/>
            <a:ext cx="9052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38"/>
          <p:cNvSpPr/>
          <p:nvPr/>
        </p:nvSpPr>
        <p:spPr>
          <a:xfrm>
            <a:off x="7522769" y="5210251"/>
            <a:ext cx="12188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Shape 39"/>
          <p:cNvSpPr/>
          <p:nvPr/>
        </p:nvSpPr>
        <p:spPr>
          <a:xfrm>
            <a:off x="8733434" y="5210251"/>
            <a:ext cx="11045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Shape 40"/>
          <p:cNvSpPr/>
          <p:nvPr/>
        </p:nvSpPr>
        <p:spPr>
          <a:xfrm>
            <a:off x="10712196" y="5210251"/>
            <a:ext cx="9052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818120" y="3781044"/>
            <a:ext cx="8933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WQwSd6yv...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847734" y="3781044"/>
            <a:ext cx="2551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10826496" y="3781044"/>
            <a:ext cx="360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3.24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7637069" y="4166921"/>
            <a:ext cx="8266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heNyGaoq...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8847734" y="4166921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10826496" y="4166921"/>
            <a:ext cx="360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3.20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7637069" y="4552798"/>
            <a:ext cx="931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Rw4mGh6M...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8847734" y="4552798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10826496" y="4552798"/>
            <a:ext cx="360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3.20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7637069" y="4938674"/>
            <a:ext cx="712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FidcsnIQ...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8847734" y="4938674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10826496" y="4938674"/>
            <a:ext cx="293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3.11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9830714" y="4048963"/>
            <a:ext cx="8860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54"/>
          <p:cNvSpPr/>
          <p:nvPr/>
        </p:nvSpPr>
        <p:spPr>
          <a:xfrm>
            <a:off x="9830714" y="4439412"/>
            <a:ext cx="8860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Shape 55"/>
          <p:cNvSpPr/>
          <p:nvPr/>
        </p:nvSpPr>
        <p:spPr>
          <a:xfrm>
            <a:off x="9830714" y="4824374"/>
            <a:ext cx="8860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6"/>
          <p:cNvSpPr/>
          <p:nvPr/>
        </p:nvSpPr>
        <p:spPr>
          <a:xfrm>
            <a:off x="9830714" y="5210251"/>
            <a:ext cx="8860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57"/>
          <p:cNvSpPr txBox="1"/>
          <p:nvPr/>
        </p:nvSpPr>
        <p:spPr>
          <a:xfrm>
            <a:off x="9945014" y="3781044"/>
            <a:ext cx="474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51.2%</a:t>
            </a:r>
            <a:endParaRPr lang="en-US" sz="900" dirty="0"/>
          </a:p>
        </p:txBody>
      </p:sp>
      <p:sp>
        <p:nvSpPr>
          <p:cNvPr id="63" name="Text 58"/>
          <p:cNvSpPr txBox="1"/>
          <p:nvPr/>
        </p:nvSpPr>
        <p:spPr>
          <a:xfrm>
            <a:off x="9945014" y="4166921"/>
            <a:ext cx="5120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</a:t>
            </a:r>
            <a:endParaRPr lang="en-US" sz="900" dirty="0"/>
          </a:p>
        </p:txBody>
      </p:sp>
      <p:sp>
        <p:nvSpPr>
          <p:cNvPr id="64" name="Text 59"/>
          <p:cNvSpPr txBox="1"/>
          <p:nvPr/>
        </p:nvSpPr>
        <p:spPr>
          <a:xfrm>
            <a:off x="9945014" y="4552798"/>
            <a:ext cx="4937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40.7%</a:t>
            </a:r>
            <a:endParaRPr lang="en-US" sz="900" dirty="0"/>
          </a:p>
        </p:txBody>
      </p:sp>
      <p:sp>
        <p:nvSpPr>
          <p:cNvPr id="65" name="Text 60"/>
          <p:cNvSpPr txBox="1"/>
          <p:nvPr/>
        </p:nvSpPr>
        <p:spPr>
          <a:xfrm>
            <a:off x="9945014" y="4938674"/>
            <a:ext cx="4453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37.1%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7522769" y="5214823"/>
            <a:ext cx="4095598" cy="381305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rcRect l="-1358" r="-1358" t="0" b="0"/>
          <a:stretch/>
        </p:blipFill>
        <p:spPr>
          <a:xfrm>
            <a:off x="7637069" y="5340096"/>
            <a:ext cx="95098" cy="123444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7770571" y="5324551"/>
            <a:ext cx="7699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Zbd0Y2ic...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847734" y="5324551"/>
            <a:ext cx="2459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10826496" y="5324551"/>
            <a:ext cx="360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3.00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9945014" y="5324551"/>
            <a:ext cx="4645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21.7%</a:t>
            </a:r>
            <a:endParaRPr lang="en-US" sz="900" dirty="0"/>
          </a:p>
        </p:txBody>
      </p:sp>
      <p:pic>
        <p:nvPicPr>
          <p:cNvPr id="7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03820" y="5976518"/>
            <a:ext cx="152705" cy="152705"/>
          </a:xfrm>
          <a:prstGeom prst="rect">
            <a:avLst/>
          </a:prstGeom>
        </p:spPr>
      </p:pic>
      <p:sp>
        <p:nvSpPr>
          <p:cNvPr id="73" name="Shape 66"/>
          <p:cNvSpPr/>
          <p:nvPr/>
        </p:nvSpPr>
        <p:spPr>
          <a:xfrm>
            <a:off x="571500" y="6748272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571500" y="6957670"/>
            <a:ext cx="2753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Siro DS Takehome Analysis • 2025-11-20</a:t>
            </a:r>
            <a:endParaRPr lang="en-US" sz="900" dirty="0"/>
          </a:p>
        </p:txBody>
      </p:sp>
      <p:pic>
        <p:nvPicPr>
          <p:cNvPr id="75" name="Image 5" descr="preencoded.png">    </p:cNvPr>
          <p:cNvPicPr>
            <a:picLocks noChangeAspect="1"/>
          </p:cNvPicPr>
          <p:nvPr/>
        </p:nvPicPr>
        <p:blipFill>
          <a:blip r:embed="rId6"/>
          <a:srcRect l="-1923" r="-1923" t="0" b="0"/>
          <a:stretch/>
        </p:blipFill>
        <p:spPr>
          <a:xfrm>
            <a:off x="571500" y="7179869"/>
            <a:ext cx="123444" cy="95098"/>
          </a:xfrm>
          <a:prstGeom prst="rect">
            <a:avLst/>
          </a:prstGeom>
        </p:spPr>
      </p:pic>
      <p:sp>
        <p:nvSpPr>
          <p:cNvPr id="76" name="Text 68"/>
          <p:cNvSpPr txBox="1"/>
          <p:nvPr/>
        </p:nvSpPr>
        <p:spPr>
          <a:xfrm>
            <a:off x="694944" y="7167982"/>
            <a:ext cx="352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</a:t>
            </a:r>
            <a:endParaRPr lang="en-US" sz="800" dirty="0"/>
          </a:p>
        </p:txBody>
      </p:sp>
      <p:sp>
        <p:nvSpPr>
          <p:cNvPr id="77" name="Text 69"/>
          <p:cNvSpPr txBox="1"/>
          <p:nvPr/>
        </p:nvSpPr>
        <p:spPr>
          <a:xfrm>
            <a:off x="2300630" y="7167982"/>
            <a:ext cx="400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(Stats),</a:t>
            </a:r>
            <a:endParaRPr lang="en-US" sz="800" dirty="0"/>
          </a:p>
        </p:txBody>
      </p:sp>
      <p:sp>
        <p:nvSpPr>
          <p:cNvPr id="78" name="Text 70"/>
          <p:cNvSpPr txBox="1"/>
          <p:nvPr/>
        </p:nvSpPr>
        <p:spPr>
          <a:xfrm>
            <a:off x="3962095" y="7167982"/>
            <a:ext cx="295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(Viz)</a:t>
            </a:r>
            <a:endParaRPr lang="en-US" sz="800" dirty="0"/>
          </a:p>
        </p:txBody>
      </p:sp>
      <p:sp>
        <p:nvSpPr>
          <p:cNvPr id="79" name="Shape 71"/>
          <p:cNvSpPr/>
          <p:nvPr/>
        </p:nvSpPr>
        <p:spPr>
          <a:xfrm>
            <a:off x="963778" y="7148779"/>
            <a:ext cx="1343254" cy="161849"/>
          </a:xfrm>
          <a:prstGeom prst="roundRect">
            <a:avLst>
              <a:gd name="adj" fmla="val 13293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2624328" y="7148779"/>
            <a:ext cx="1343254" cy="161849"/>
          </a:xfrm>
          <a:prstGeom prst="roundRect">
            <a:avLst>
              <a:gd name="adj" fmla="val 13293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1029614" y="7177126"/>
            <a:ext cx="1286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analysis.py#L207-L246</a:t>
            </a:r>
            <a:endParaRPr lang="en-US" sz="800" dirty="0"/>
          </a:p>
        </p:txBody>
      </p:sp>
      <p:sp>
        <p:nvSpPr>
          <p:cNvPr id="82" name="Text 74"/>
          <p:cNvSpPr txBox="1"/>
          <p:nvPr/>
        </p:nvSpPr>
        <p:spPr>
          <a:xfrm>
            <a:off x="2691079" y="7177126"/>
            <a:ext cx="1286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analysis.py#L320-L335</a:t>
            </a:r>
            <a:endParaRPr lang="en-US" sz="800" dirty="0"/>
          </a:p>
        </p:txBody>
      </p:sp>
      <p:sp>
        <p:nvSpPr>
          <p:cNvPr id="83" name="Text 75"/>
          <p:cNvSpPr txBox="1"/>
          <p:nvPr/>
        </p:nvSpPr>
        <p:spPr>
          <a:xfrm>
            <a:off x="11009376" y="7138721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of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43546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43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875995"/>
            <a:ext cx="7791602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80202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Decline Over Time - LLM Deep Dive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09498"/>
            <a:ext cx="5791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 Dropped 24.6 Points; Skill Scores Declined 15% (Aug 6 - Sep 28)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410005"/>
            <a:ext cx="5924398" cy="4953305"/>
          </a:xfrm>
          <a:prstGeom prst="roundRect">
            <a:avLst>
              <a:gd name="adj" fmla="val 5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04695" y="1619402"/>
            <a:ext cx="3357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Rate &amp; Skill Score Trends (Weekly Analysis)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88" r="-88" t="0" b="0"/>
          <a:stretch/>
        </p:blipFill>
        <p:spPr>
          <a:xfrm>
            <a:off x="771754" y="1904695"/>
            <a:ext cx="5524805" cy="39529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791310" y="602955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81505" y="6010351"/>
            <a:ext cx="1686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Rate: 64.29% → 39.64%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993185" y="6010351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Score: 4.10 → 3.50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02990" y="602955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6717182" y="1410005"/>
            <a:ext cx="4828946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6869887" y="1567282"/>
            <a:ext cx="171907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17182" y="2329891"/>
            <a:ext cx="4828946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17182" y="3249778"/>
            <a:ext cx="4828946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116775" y="1533449"/>
            <a:ext cx="2434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Shift to Transactional Approach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869887" y="1772107"/>
            <a:ext cx="45820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period (Aug 6-15) prioritized authentic connections and systematic discovery. Late period (Sep 15-28) shifted to transactional interactions, reducing trust.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6869887" y="2487168"/>
            <a:ext cx="171907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116775" y="2453335"/>
            <a:ext cx="2748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Less Name Usage &amp; Personalization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7116775" y="3373222"/>
            <a:ext cx="2815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Failure to Secure Explicit Agreement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079285" y="4294022"/>
            <a:ext cx="25100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Missing Clear Closing Questions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869887" y="2691994"/>
            <a:ext cx="39721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use of customer names and personalized questions dropped significantly in later weeks, leading to lower customer engagement.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6869887" y="3407054"/>
            <a:ext cx="171907" cy="13350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717182" y="4169664"/>
            <a:ext cx="4828946" cy="809244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6869887" y="3611880"/>
            <a:ext cx="4429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Reps failed to confirm resolution of objections or gain progressive agreement on price/timing, causing ambiguity at the close.</a:t>
            </a:r>
            <a:endParaRPr lang="en-US" sz="9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69887" y="4326941"/>
            <a:ext cx="133502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69887" y="4531766"/>
            <a:ext cx="43342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the early period, later calls lacked clear closing questions and follow-up confirmations, resulting in missed commitments.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717182" y="5111496"/>
            <a:ext cx="4828946" cy="1257300"/>
          </a:xfrm>
          <a:prstGeom prst="roundRect">
            <a:avLst>
              <a:gd name="adj" fmla="val 4408"/>
            </a:avLst>
          </a:prstGeom>
          <a:solidFill>
            <a:srgbClr val="ECFDF5"/>
          </a:solidFill>
          <a:ln/>
        </p:spPr>
      </p:sp>
      <p:sp>
        <p:nvSpPr>
          <p:cNvPr id="31" name="Shape 24"/>
          <p:cNvSpPr/>
          <p:nvPr/>
        </p:nvSpPr>
        <p:spPr>
          <a:xfrm>
            <a:off x="6717182" y="5111496"/>
            <a:ext cx="38405" cy="12573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2512" r="-2512" t="0" b="0"/>
          <a:stretch/>
        </p:blipFill>
        <p:spPr>
          <a:xfrm>
            <a:off x="6898234" y="5258714"/>
            <a:ext cx="105156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79285" y="5225796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 Interventions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7050024" y="5501945"/>
            <a:ext cx="3982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Training: Focus on authentic connections &amp; securing explicit agreement.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7050024" y="5688482"/>
            <a:ext cx="3877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Protocol: Mandate name usage and personalized discovery questions.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7050024" y="5875020"/>
            <a:ext cx="4134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Structure: Reinforce "permission to question" &amp; emotional driver discovery.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7050024" y="6061558"/>
            <a:ext cx="3781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Process: Implement clear closing checklists with confirmation steps.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71500" y="6362395"/>
            <a:ext cx="11048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571500" y="6495898"/>
            <a:ext cx="37746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Siro DS Takehome • LLM Analysis of Recommendations &amp; Impacts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8873338" y="6486754"/>
            <a:ext cx="2752344" cy="219456"/>
          </a:xfrm>
          <a:prstGeom prst="roundRect">
            <a:avLst>
              <a:gd name="adj" fmla="val 724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958377" y="6534302"/>
            <a:ext cx="2536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Temporal Analysis: analysis.py#L94-L111</a:t>
            </a:r>
            <a:endParaRPr lang="en-US" sz="8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449202" y="6545275"/>
            <a:ext cx="85954" cy="8595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8684057" y="6748272"/>
            <a:ext cx="2943454" cy="219456"/>
          </a:xfrm>
          <a:prstGeom prst="roundRect">
            <a:avLst>
              <a:gd name="adj" fmla="val 7246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770010" y="6795821"/>
            <a:ext cx="2726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Root Causes: llm_analysis.py#L150-L194</a:t>
            </a:r>
            <a:endParaRPr lang="en-US" sz="8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449202" y="6806794"/>
            <a:ext cx="85954" cy="85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2025-11-20T04:45:35Z</dcterms:created>
  <dcterms:modified xsi:type="dcterms:W3CDTF">2025-11-20T04:45:35Z</dcterms:modified>
</cp:coreProperties>
</file>